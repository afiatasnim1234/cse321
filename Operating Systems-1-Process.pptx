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Economica"/>
      <p:regular r:id="rId45"/>
      <p:bold r:id="rId46"/>
      <p:italic r:id="rId47"/>
      <p:boldItalic r:id="rId48"/>
    </p:embeddedFont>
    <p:embeddedFont>
      <p:font typeface="Nunito"/>
      <p:regular r:id="rId49"/>
      <p:bold r:id="rId50"/>
      <p:italic r:id="rId51"/>
      <p:boldItalic r:id="rId52"/>
    </p:embeddedFont>
    <p:embeddedFont>
      <p:font typeface="Spectral"/>
      <p:regular r:id="rId53"/>
      <p:bold r:id="rId54"/>
      <p:italic r:id="rId55"/>
      <p:boldItalic r:id="rId56"/>
    </p:embeddedFont>
    <p:embeddedFont>
      <p:font typeface="Spectral Medium"/>
      <p:regular r:id="rId57"/>
      <p:bold r:id="rId58"/>
      <p:italic r:id="rId59"/>
      <p:boldItalic r:id="rId60"/>
    </p:embeddedFont>
    <p:embeddedFont>
      <p:font typeface="Cambria Math"/>
      <p:regular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gNypmiM6mtYzMOl00NN0yd8+Rx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98A958-92FE-4035-ADB3-A03AF4D20B8E}">
  <a:tblStyle styleId="{4998A958-92FE-4035-ADB3-A03AF4D20B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Economica-bold.fntdata"/><Relationship Id="rId45" Type="http://schemas.openxmlformats.org/officeDocument/2006/relationships/font" Target="fonts/Economic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Economica-boldItalic.fntdata"/><Relationship Id="rId47" Type="http://schemas.openxmlformats.org/officeDocument/2006/relationships/font" Target="fonts/Economica-italic.fntdata"/><Relationship Id="rId49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-regular.fntdata"/><Relationship Id="rId61" Type="http://schemas.openxmlformats.org/officeDocument/2006/relationships/font" Target="fonts/CambriaMath-regular.fntdata"/><Relationship Id="rId20" Type="http://schemas.openxmlformats.org/officeDocument/2006/relationships/slide" Target="slides/slide14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6.xml"/><Relationship Id="rId66" Type="http://customschemas.google.com/relationships/presentationmetadata" Target="metadata"/><Relationship Id="rId21" Type="http://schemas.openxmlformats.org/officeDocument/2006/relationships/slide" Target="slides/slide15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pectralMediu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Nunito-italic.fntdata"/><Relationship Id="rId50" Type="http://schemas.openxmlformats.org/officeDocument/2006/relationships/font" Target="fonts/Nunito-bold.fntdata"/><Relationship Id="rId53" Type="http://schemas.openxmlformats.org/officeDocument/2006/relationships/font" Target="fonts/Spectral-regular.fntdata"/><Relationship Id="rId52" Type="http://schemas.openxmlformats.org/officeDocument/2006/relationships/font" Target="fonts/Nunito-boldItalic.fntdata"/><Relationship Id="rId11" Type="http://schemas.openxmlformats.org/officeDocument/2006/relationships/slide" Target="slides/slide5.xml"/><Relationship Id="rId55" Type="http://schemas.openxmlformats.org/officeDocument/2006/relationships/font" Target="fonts/Spectral-italic.fntdata"/><Relationship Id="rId10" Type="http://schemas.openxmlformats.org/officeDocument/2006/relationships/slide" Target="slides/slide4.xml"/><Relationship Id="rId54" Type="http://schemas.openxmlformats.org/officeDocument/2006/relationships/font" Target="fonts/Spectral-bold.fntdata"/><Relationship Id="rId13" Type="http://schemas.openxmlformats.org/officeDocument/2006/relationships/slide" Target="slides/slide7.xml"/><Relationship Id="rId57" Type="http://schemas.openxmlformats.org/officeDocument/2006/relationships/font" Target="fonts/SpectralMedium-regular.fntdata"/><Relationship Id="rId12" Type="http://schemas.openxmlformats.org/officeDocument/2006/relationships/slide" Target="slides/slide6.xml"/><Relationship Id="rId56" Type="http://schemas.openxmlformats.org/officeDocument/2006/relationships/font" Target="fonts/Spectral-boldItalic.fntdata"/><Relationship Id="rId15" Type="http://schemas.openxmlformats.org/officeDocument/2006/relationships/slide" Target="slides/slide9.xml"/><Relationship Id="rId59" Type="http://schemas.openxmlformats.org/officeDocument/2006/relationships/font" Target="fonts/SpectralMedium-italic.fntdata"/><Relationship Id="rId14" Type="http://schemas.openxmlformats.org/officeDocument/2006/relationships/slide" Target="slides/slide8.xml"/><Relationship Id="rId58" Type="http://schemas.openxmlformats.org/officeDocument/2006/relationships/font" Target="fonts/Spectral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question that arises in discussing operating systems involves what to call all the CPU activities.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batch system executes jobs, whereas a time-shared system has user programs, or tasks.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single-user system, a user may be able to run several programs at one time: a word processor, aWeb browser, and an e-mail package.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Even if a device or system does not support multitasking, the operating system may need to support its own internal programmed activities.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 many respects, all these activities are similar, so we call all of them processes.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Although we personally prefer the term process, much of operating-system theory and terminology was developed during a time when the major activity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of operating systems was job processing.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0e5c568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30e5c568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0e5c568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30e5c568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0e5c5688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30e5c5688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0e5c568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30e5c568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b02a4f0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2b02a4f0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0e5c568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30e5c568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b02a4f0a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2b02a4f0a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b02a4f0a3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2b02a4f0a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b02a4f0a3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2b02a4f0a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0e5c5688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30e5c5688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5ee8f0eb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85ee8f0eb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5ee8f0eb0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85ee8f0eb0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5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37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3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8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1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4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2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42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4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4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Concept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1406125" y="1375150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What to call the activities of CPU ?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2701052" y="1804874"/>
            <a:ext cx="4021205" cy="1295943"/>
            <a:chOff x="1776175" y="2380025"/>
            <a:chExt cx="4388525" cy="1462525"/>
          </a:xfrm>
        </p:grpSpPr>
        <p:sp>
          <p:nvSpPr>
            <p:cNvPr id="71" name="Google Shape;71;p2"/>
            <p:cNvSpPr/>
            <p:nvPr/>
          </p:nvSpPr>
          <p:spPr>
            <a:xfrm>
              <a:off x="1783575" y="2605925"/>
              <a:ext cx="1317300" cy="547500"/>
            </a:xfrm>
            <a:prstGeom prst="bevel">
              <a:avLst>
                <a:gd fmla="val 125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Jobs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160400" y="2380025"/>
              <a:ext cx="2004300" cy="999300"/>
            </a:xfrm>
            <a:prstGeom prst="bevel">
              <a:avLst>
                <a:gd fmla="val 125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User Programs 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or 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Tasks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1776175" y="3143125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Batch System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74" name="Google Shape;74;p2"/>
            <p:cNvSpPr txBox="1"/>
            <p:nvPr/>
          </p:nvSpPr>
          <p:spPr>
            <a:xfrm>
              <a:off x="4474350" y="3345150"/>
              <a:ext cx="1376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Time Sharing System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75" name="Google Shape;75;p2"/>
          <p:cNvSpPr txBox="1"/>
          <p:nvPr/>
        </p:nvSpPr>
        <p:spPr>
          <a:xfrm>
            <a:off x="2262950" y="3437625"/>
            <a:ext cx="4262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These activities are called “</a:t>
            </a:r>
            <a:r>
              <a:rPr b="1" i="0" lang="en" sz="1400" u="none" cap="none" strike="noStrike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Processes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”  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1173450" y="4096850"/>
            <a:ext cx="6228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★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terms </a:t>
            </a: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“job”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and </a:t>
            </a: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“process”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are used almost interchangeably.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950" y="1344475"/>
            <a:ext cx="2293400" cy="30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>
            <p:ph type="title"/>
          </p:nvPr>
        </p:nvSpPr>
        <p:spPr>
          <a:xfrm>
            <a:off x="311700" y="3550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311700" y="1232975"/>
            <a:ext cx="5197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i="1" lang="en" sz="1400">
                <a:latin typeface="Spectral"/>
                <a:ea typeface="Spectral"/>
                <a:cs typeface="Spectral"/>
                <a:sym typeface="Spectral"/>
              </a:rPr>
              <a:t>A process is a program that is in execution.</a:t>
            </a:r>
            <a:endParaRPr b="1" i="1"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11700" y="1698425"/>
            <a:ext cx="53574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But, it is more than the program codes. Program code is known as “text section” of a process.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11700" y="2323325"/>
            <a:ext cx="5357400" cy="23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Besides code of the program, it contains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Counter and Registers: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 stores current activity of the process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Stack: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Temporary data (function parameter, local variables, return addresses etc.)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 Section: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Global Variables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Heap: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dynamically allocated memory during runtime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Program Vs Process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311700" y="114722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29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is </a:t>
            </a:r>
            <a:r>
              <a:rPr lang="en" sz="4049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passive entity</a:t>
            </a: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 stored on disk (executable file); process is active 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Program becomes process when an executable file is loaded into memory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Execution of program started via GUI mouse clicks, command line entry of its name, etc.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One program can be several processes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-2929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4049">
                <a:latin typeface="Spectral"/>
                <a:ea typeface="Spectral"/>
                <a:cs typeface="Spectral"/>
                <a:sym typeface="Spectral"/>
              </a:rPr>
              <a:t>Consider multiple users executing the same program</a:t>
            </a:r>
            <a:endParaRPr sz="4049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92" name="Google Shape;92;p4"/>
          <p:cNvGrpSpPr/>
          <p:nvPr/>
        </p:nvGrpSpPr>
        <p:grpSpPr>
          <a:xfrm>
            <a:off x="1873100" y="2827525"/>
            <a:ext cx="1311444" cy="1408525"/>
            <a:chOff x="1720700" y="2827525"/>
            <a:chExt cx="1311444" cy="1408525"/>
          </a:xfrm>
        </p:grpSpPr>
        <p:sp>
          <p:nvSpPr>
            <p:cNvPr id="93" name="Google Shape;93;p4"/>
            <p:cNvSpPr/>
            <p:nvPr/>
          </p:nvSpPr>
          <p:spPr>
            <a:xfrm>
              <a:off x="1720700" y="2827525"/>
              <a:ext cx="1311444" cy="999324"/>
            </a:xfrm>
            <a:prstGeom prst="flowChartDocument">
              <a:avLst/>
            </a:prstGeom>
            <a:solidFill>
              <a:srgbClr val="CFE2F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1790375" y="3826850"/>
              <a:ext cx="11721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program1.exe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3627425" y="2650300"/>
            <a:ext cx="1200000" cy="698100"/>
            <a:chOff x="3627425" y="2650300"/>
            <a:chExt cx="1200000" cy="698100"/>
          </a:xfrm>
        </p:grpSpPr>
        <p:cxnSp>
          <p:nvCxnSpPr>
            <p:cNvPr id="96" name="Google Shape;96;p4"/>
            <p:cNvCxnSpPr/>
            <p:nvPr/>
          </p:nvCxnSpPr>
          <p:spPr>
            <a:xfrm>
              <a:off x="3627425" y="3339100"/>
              <a:ext cx="1200000" cy="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7" name="Google Shape;97;p4"/>
            <p:cNvSpPr txBox="1"/>
            <p:nvPr/>
          </p:nvSpPr>
          <p:spPr>
            <a:xfrm>
              <a:off x="3712575" y="2650300"/>
              <a:ext cx="9939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Loaded into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memory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98" name="Google Shape;98;p4"/>
          <p:cNvGrpSpPr/>
          <p:nvPr/>
        </p:nvGrpSpPr>
        <p:grpSpPr>
          <a:xfrm>
            <a:off x="4796475" y="2407200"/>
            <a:ext cx="3554350" cy="2619000"/>
            <a:chOff x="4796475" y="2407200"/>
            <a:chExt cx="3554350" cy="2619000"/>
          </a:xfrm>
        </p:grpSpPr>
        <p:sp>
          <p:nvSpPr>
            <p:cNvPr id="99" name="Google Shape;99;p4"/>
            <p:cNvSpPr/>
            <p:nvPr/>
          </p:nvSpPr>
          <p:spPr>
            <a:xfrm>
              <a:off x="5363500" y="2407200"/>
              <a:ext cx="1369200" cy="2343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467600" y="3341450"/>
              <a:ext cx="1172100" cy="40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Value of a is 10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467600" y="3867450"/>
              <a:ext cx="1172100" cy="8370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467600" y="392237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print(a+b)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5467600" y="416447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b=5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5467600" y="4406725"/>
              <a:ext cx="1172100" cy="242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a=10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7132500" y="4169450"/>
              <a:ext cx="9486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Text section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7248325" y="3448400"/>
              <a:ext cx="1102500" cy="3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Data section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5467600" y="2489950"/>
              <a:ext cx="1172100" cy="40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next address to execute</a:t>
              </a:r>
              <a:endParaRPr b="0" i="0" sz="10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7248325" y="2440600"/>
              <a:ext cx="1102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Program counter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5910450" y="2792450"/>
              <a:ext cx="502200" cy="6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...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110" name="Google Shape;110;p4"/>
            <p:cNvCxnSpPr>
              <a:stCxn id="105" idx="1"/>
            </p:cNvCxnSpPr>
            <p:nvPr/>
          </p:nvCxnSpPr>
          <p:spPr>
            <a:xfrm flipH="1">
              <a:off x="6621000" y="4320650"/>
              <a:ext cx="511500" cy="46800"/>
            </a:xfrm>
            <a:prstGeom prst="straightConnector1">
              <a:avLst/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" name="Google Shape;111;p4"/>
            <p:cNvCxnSpPr>
              <a:stCxn id="106" idx="1"/>
              <a:endCxn id="99" idx="3"/>
            </p:cNvCxnSpPr>
            <p:nvPr/>
          </p:nvCxnSpPr>
          <p:spPr>
            <a:xfrm rot="10800000">
              <a:off x="6732625" y="3579200"/>
              <a:ext cx="515700" cy="204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2" name="Google Shape;112;p4"/>
            <p:cNvCxnSpPr>
              <a:stCxn id="108" idx="1"/>
            </p:cNvCxnSpPr>
            <p:nvPr/>
          </p:nvCxnSpPr>
          <p:spPr>
            <a:xfrm flipH="1">
              <a:off x="6667525" y="2694550"/>
              <a:ext cx="580800" cy="9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3" name="Google Shape;113;p4"/>
            <p:cNvSpPr txBox="1"/>
            <p:nvPr/>
          </p:nvSpPr>
          <p:spPr>
            <a:xfrm>
              <a:off x="4796475" y="4671000"/>
              <a:ext cx="25905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Corresponding process in memory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Same program, Different Process</a:t>
            </a: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1153200" y="2837822"/>
            <a:ext cx="1292700" cy="1107553"/>
            <a:chOff x="1153200" y="2483322"/>
            <a:chExt cx="1292700" cy="1107553"/>
          </a:xfrm>
        </p:grpSpPr>
        <p:sp>
          <p:nvSpPr>
            <p:cNvPr id="120" name="Google Shape;120;p5"/>
            <p:cNvSpPr/>
            <p:nvPr/>
          </p:nvSpPr>
          <p:spPr>
            <a:xfrm>
              <a:off x="1247967" y="2483322"/>
              <a:ext cx="1103166" cy="709020"/>
            </a:xfrm>
            <a:prstGeom prst="flowChartDocument">
              <a:avLst/>
            </a:prstGeom>
            <a:solidFill>
              <a:srgbClr val="CFE2F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Code 1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1153200" y="3295375"/>
              <a:ext cx="12927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program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2351133" y="1906725"/>
            <a:ext cx="2931967" cy="2866175"/>
            <a:chOff x="2351133" y="1906725"/>
            <a:chExt cx="2931967" cy="2866175"/>
          </a:xfrm>
        </p:grpSpPr>
        <p:sp>
          <p:nvSpPr>
            <p:cNvPr id="123" name="Google Shape;123;p5"/>
            <p:cNvSpPr/>
            <p:nvPr/>
          </p:nvSpPr>
          <p:spPr>
            <a:xfrm>
              <a:off x="3394900" y="1906725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1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3394900" y="2926050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2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394900" y="3945375"/>
              <a:ext cx="1348800" cy="483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Process 3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cxnSp>
          <p:nvCxnSpPr>
            <p:cNvPr id="126" name="Google Shape;126;p5"/>
            <p:cNvCxnSpPr>
              <a:stCxn id="120" idx="3"/>
              <a:endCxn id="123" idx="1"/>
            </p:cNvCxnSpPr>
            <p:nvPr/>
          </p:nvCxnSpPr>
          <p:spPr>
            <a:xfrm flipH="1" rot="10800000">
              <a:off x="2351133" y="2148632"/>
              <a:ext cx="1043700" cy="10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5"/>
            <p:cNvCxnSpPr>
              <a:stCxn id="120" idx="3"/>
              <a:endCxn id="124" idx="1"/>
            </p:cNvCxnSpPr>
            <p:nvPr/>
          </p:nvCxnSpPr>
          <p:spPr>
            <a:xfrm flipH="1" rot="10800000">
              <a:off x="2351133" y="3167732"/>
              <a:ext cx="1043700" cy="2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8" name="Google Shape;128;p5"/>
            <p:cNvCxnSpPr>
              <a:stCxn id="120" idx="3"/>
              <a:endCxn id="125" idx="1"/>
            </p:cNvCxnSpPr>
            <p:nvPr/>
          </p:nvCxnSpPr>
          <p:spPr>
            <a:xfrm>
              <a:off x="2351133" y="3192332"/>
              <a:ext cx="1043700" cy="99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9" name="Google Shape;129;p5"/>
            <p:cNvSpPr txBox="1"/>
            <p:nvPr/>
          </p:nvSpPr>
          <p:spPr>
            <a:xfrm>
              <a:off x="3394900" y="2424000"/>
              <a:ext cx="16833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first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3394900" y="3421100"/>
              <a:ext cx="18882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second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131" name="Google Shape;131;p5"/>
            <p:cNvSpPr txBox="1"/>
            <p:nvPr/>
          </p:nvSpPr>
          <p:spPr>
            <a:xfrm>
              <a:off x="3394825" y="4477400"/>
              <a:ext cx="17280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Browser ( third window)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sp>
        <p:nvSpPr>
          <p:cNvPr id="132" name="Google Shape;132;p5"/>
          <p:cNvSpPr txBox="1"/>
          <p:nvPr/>
        </p:nvSpPr>
        <p:spPr>
          <a:xfrm>
            <a:off x="5906150" y="2745625"/>
            <a:ext cx="24927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Program code is same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Data, Heap, Stacks contains different information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408050" y="539400"/>
            <a:ext cx="7030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States of a Process</a:t>
            </a:r>
            <a:endParaRPr/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408050" y="1373663"/>
            <a:ext cx="70305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826"/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A process state defines the current activity of that process.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08050" y="1906750"/>
            <a:ext cx="5357400" cy="2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states a process can be: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New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being created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Running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Instructions are being executed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Waiting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is waiting for some event to occur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Waiting to be assigned to a processor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❏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Terminated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Process has finished execution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State Diagram</a:t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075" y="1518075"/>
            <a:ext cx="7003548" cy="2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Processes in OS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311700" y="1299475"/>
            <a:ext cx="73776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Each process is represented in the operating system by a </a:t>
            </a:r>
            <a:r>
              <a:rPr b="1" i="1" lang="en" sz="1430">
                <a:latin typeface="Spectral"/>
                <a:ea typeface="Spectral"/>
                <a:cs typeface="Spectral"/>
                <a:sym typeface="Spectral"/>
              </a:rPr>
              <a:t>Process Control Block (PCB) or Task Control Block</a:t>
            </a:r>
            <a:endParaRPr b="1" i="1" sz="143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430">
                <a:latin typeface="Spectral"/>
                <a:ea typeface="Spectral"/>
                <a:cs typeface="Spectral"/>
                <a:sym typeface="Spectral"/>
              </a:rPr>
              <a:t>PCB is a data structure to store information of Processes such as - </a:t>
            </a: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325" y="2065650"/>
            <a:ext cx="2003175" cy="28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395950" y="2205425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Process state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running, waiting, etc.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Program counter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location of instruction to next execute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registers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contents of all process-centric registers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 scheduling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- priorities, scheduling queue pointers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Memory-management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memory allocated to the process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Accounting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CPU used, clock time elapsed since start, time limits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I/O status information</a:t>
            </a: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– I/O devices allocated to process, list of open files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0e5c5688a_0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Threads</a:t>
            </a:r>
            <a:endParaRPr/>
          </a:p>
        </p:txBody>
      </p:sp>
      <p:sp>
        <p:nvSpPr>
          <p:cNvPr id="159" name="Google Shape;159;g330e5c5688a_0_0"/>
          <p:cNvSpPr txBox="1"/>
          <p:nvPr/>
        </p:nvSpPr>
        <p:spPr>
          <a:xfrm>
            <a:off x="311700" y="1174350"/>
            <a:ext cx="5472600" cy="2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So far, process has a single thread of execution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Consider having multiple program counters per process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◆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locations can execute at once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Multiple threads of control -&gt; threads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Must then have storage for thread details, multiple program counters in PCB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ectral"/>
              <a:buChar char="➔"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Explore the details later</a:t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0e5c5688a_0_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Representation in Linux</a:t>
            </a:r>
            <a:endParaRPr/>
          </a:p>
        </p:txBody>
      </p:sp>
      <p:sp>
        <p:nvSpPr>
          <p:cNvPr id="165" name="Google Shape;165;g330e5c5688a_0_7"/>
          <p:cNvSpPr txBox="1"/>
          <p:nvPr/>
        </p:nvSpPr>
        <p:spPr>
          <a:xfrm>
            <a:off x="311700" y="1174350"/>
            <a:ext cx="85773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Represented by the C structure </a:t>
            </a:r>
            <a:r>
              <a:rPr b="0" i="0" lang="en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endParaRPr b="0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 t_pid;   				/* process identifier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state;   				/* state of the process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 time_slice   	/* scheduling information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task_struct *parent;	/* this process’s parent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list_head children; 	/* this process’s children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files_struct *files;	/* list of open files */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mm_struct *mm;   		/* address space of this process */</a:t>
            </a:r>
            <a:endParaRPr b="0"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66" name="Google Shape;166;g330e5c5688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625" y="3790425"/>
            <a:ext cx="3430425" cy="11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Process Scheduling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Scheduling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311700" y="1108300"/>
            <a:ext cx="63987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scheduler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selects among available processes for next execution on CPU core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Goal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-- Maximize CPU use, quickly switch processes onto CPU core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➔"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Maintains scheduling queues of processes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Ready queue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all processes residing in main memory, ready and waiting to execute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Wait queues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– set of processes waiting for an event (i.e., I/O)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◆"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migrate among the various queues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 b="-1750" l="0" r="-1760" t="0"/>
          <a:stretch/>
        </p:blipFill>
        <p:spPr>
          <a:xfrm>
            <a:off x="1577350" y="2646550"/>
            <a:ext cx="5218326" cy="22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Representation of Process Scheduling</a:t>
            </a:r>
            <a:endParaRPr/>
          </a:p>
        </p:txBody>
      </p:sp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875" y="1147225"/>
            <a:ext cx="6030249" cy="34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0e5c5688a_0_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191" name="Google Shape;191;g330e5c5688a_0_22"/>
          <p:cNvSpPr txBox="1"/>
          <p:nvPr>
            <p:ph idx="1" type="body"/>
          </p:nvPr>
        </p:nvSpPr>
        <p:spPr>
          <a:xfrm>
            <a:off x="311700" y="1138125"/>
            <a:ext cx="84879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A </a:t>
            </a: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context switch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occurs when the CPU  switches from one process to another.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Context Switch: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1. Storing currently executed process context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	          2. Restoring the next process context to execute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92" name="Google Shape;192;g330e5c5688a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813" y="2262275"/>
            <a:ext cx="5156374" cy="2662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g330e5c5688a_0_22"/>
          <p:cNvGrpSpPr/>
          <p:nvPr/>
        </p:nvGrpSpPr>
        <p:grpSpPr>
          <a:xfrm>
            <a:off x="1650350" y="2871675"/>
            <a:ext cx="5498575" cy="625850"/>
            <a:chOff x="1650350" y="2871675"/>
            <a:chExt cx="5498575" cy="625850"/>
          </a:xfrm>
        </p:grpSpPr>
        <p:cxnSp>
          <p:nvCxnSpPr>
            <p:cNvPr id="194" name="Google Shape;194;g330e5c5688a_0_22"/>
            <p:cNvCxnSpPr/>
            <p:nvPr/>
          </p:nvCxnSpPr>
          <p:spPr>
            <a:xfrm flipH="1" rot="10800000">
              <a:off x="2353425" y="287167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g330e5c5688a_0_22"/>
            <p:cNvCxnSpPr/>
            <p:nvPr/>
          </p:nvCxnSpPr>
          <p:spPr>
            <a:xfrm flipH="1" rot="10800000">
              <a:off x="2353425" y="349032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" name="Google Shape;196;g330e5c5688a_0_22"/>
            <p:cNvSpPr txBox="1"/>
            <p:nvPr/>
          </p:nvSpPr>
          <p:spPr>
            <a:xfrm>
              <a:off x="1650350" y="2935900"/>
              <a:ext cx="14802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P0 to P1</a:t>
              </a:r>
              <a:endParaRPr b="1" i="0" sz="1000" u="none" cap="none" strike="noStrik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7" name="Google Shape;197;g330e5c5688a_0_22"/>
          <p:cNvGrpSpPr/>
          <p:nvPr/>
        </p:nvGrpSpPr>
        <p:grpSpPr>
          <a:xfrm>
            <a:off x="1580725" y="4012775"/>
            <a:ext cx="5577800" cy="677650"/>
            <a:chOff x="1580725" y="4012775"/>
            <a:chExt cx="5577800" cy="677650"/>
          </a:xfrm>
        </p:grpSpPr>
        <p:cxnSp>
          <p:nvCxnSpPr>
            <p:cNvPr id="198" name="Google Shape;198;g330e5c5688a_0_22"/>
            <p:cNvCxnSpPr/>
            <p:nvPr/>
          </p:nvCxnSpPr>
          <p:spPr>
            <a:xfrm flipH="1" rot="10800000">
              <a:off x="2363025" y="401277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g330e5c5688a_0_22"/>
            <p:cNvCxnSpPr/>
            <p:nvPr/>
          </p:nvCxnSpPr>
          <p:spPr>
            <a:xfrm flipH="1" rot="10800000">
              <a:off x="2323000" y="4683225"/>
              <a:ext cx="47955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" name="Google Shape;200;g330e5c5688a_0_22"/>
            <p:cNvSpPr txBox="1"/>
            <p:nvPr/>
          </p:nvSpPr>
          <p:spPr>
            <a:xfrm>
              <a:off x="1580725" y="4102900"/>
              <a:ext cx="15498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980000"/>
                  </a:solidFill>
                  <a:latin typeface="Nunito"/>
                  <a:ea typeface="Nunito"/>
                  <a:cs typeface="Nunito"/>
                  <a:sym typeface="Nunito"/>
                </a:rPr>
                <a:t>Overhead for context switch from P1 to P0</a:t>
              </a:r>
              <a:endParaRPr b="1" i="0" sz="1000" u="none" cap="none" strike="noStrike">
                <a:solidFill>
                  <a:srgbClr val="98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0e5c5688a_0_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Context Switch</a:t>
            </a:r>
            <a:endParaRPr/>
          </a:p>
        </p:txBody>
      </p:sp>
      <p:sp>
        <p:nvSpPr>
          <p:cNvPr id="206" name="Google Shape;206;g330e5c5688a_0_16"/>
          <p:cNvSpPr txBox="1"/>
          <p:nvPr/>
        </p:nvSpPr>
        <p:spPr>
          <a:xfrm>
            <a:off x="311700" y="1108300"/>
            <a:ext cx="63987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When CPU switches to another process, the system must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save the state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the old process and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load the saved state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for the new process via a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 switch</a:t>
            </a:r>
            <a:endParaRPr b="1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a process represented in the PCB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Context-switch time is pure overhead; the system does no useful work while switching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more complex the OS and the PCB </a:t>
            </a:r>
            <a:r>
              <a:rPr b="1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the longer the context switch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Time dependent on hardware support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◆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Some hardware provides multiple sets of registers per CPU </a:t>
            </a:r>
            <a:r>
              <a:rPr b="1" i="0" lang="en" sz="14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=&gt;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multiple contexts loaded at once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b02a4f0a3_0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/>
              <a:t>Dual Mode Operation</a:t>
            </a:r>
            <a:r>
              <a:rPr lang="en" sz="3600">
                <a:latin typeface="Impact"/>
                <a:ea typeface="Impact"/>
                <a:cs typeface="Impact"/>
                <a:sym typeface="Impact"/>
              </a:rPr>
              <a:t> 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2" name="Google Shape;212;g32b02a4f0a3_0_0"/>
          <p:cNvSpPr txBox="1"/>
          <p:nvPr>
            <p:ph idx="1" type="body"/>
          </p:nvPr>
        </p:nvSpPr>
        <p:spPr>
          <a:xfrm>
            <a:off x="311700" y="1147225"/>
            <a:ext cx="8520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Need to distinguish between the execution of operating-system code and user defined code.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bit, called the mode bit, is added to the hardware of the computer to indicate the current mode: kernel (0) or user (1).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dual mode of operation provides protection of the operating system from errant users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this protection is provided by designating some of the machine instructions that may cause harm as privileged instructions that are executed only in kernel mode.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2b02a4f0a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137" y="2782725"/>
            <a:ext cx="5755726" cy="22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0e5c5688a_0_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Calls</a:t>
            </a:r>
            <a:endParaRPr/>
          </a:p>
        </p:txBody>
      </p:sp>
      <p:sp>
        <p:nvSpPr>
          <p:cNvPr id="219" name="Google Shape;219;g330e5c5688a_0_40"/>
          <p:cNvSpPr txBox="1"/>
          <p:nvPr>
            <p:ph idx="1" type="body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Programming interface to the services provided by the OS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Typically written in a high-level language (C or C++)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Mostly accessed by programs via a high-level Application Programming Interface (API) rather than direct system call use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Three most common APIs are Win32 API for Windows, POSIX API for POSIX-based systems (including virtually all versions of UNIX, Linux, and Mac OS X), and Java API for the Java virtual machine (JVM)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latin typeface="Spectral"/>
                <a:ea typeface="Spectral"/>
                <a:cs typeface="Spectral"/>
                <a:sym typeface="Spectral"/>
              </a:rPr>
              <a:t>Note:</a:t>
            </a: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the system-call names used throughout this text are generic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b02a4f0a3_0_79"/>
          <p:cNvSpPr txBox="1"/>
          <p:nvPr>
            <p:ph type="title"/>
          </p:nvPr>
        </p:nvSpPr>
        <p:spPr>
          <a:xfrm>
            <a:off x="311700" y="767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System Call Interface</a:t>
            </a:r>
            <a:endParaRPr/>
          </a:p>
        </p:txBody>
      </p:sp>
      <p:sp>
        <p:nvSpPr>
          <p:cNvPr id="225" name="Google Shape;225;g32b02a4f0a3_0_79"/>
          <p:cNvSpPr txBox="1"/>
          <p:nvPr>
            <p:ph idx="1" type="body"/>
          </p:nvPr>
        </p:nvSpPr>
        <p:spPr>
          <a:xfrm>
            <a:off x="311700" y="908000"/>
            <a:ext cx="441330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Typically, a number is  associated with each system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b="1" lang="en" sz="1400">
                <a:latin typeface="Spectral"/>
                <a:ea typeface="Spectral"/>
                <a:cs typeface="Spectral"/>
                <a:sym typeface="Spectral"/>
              </a:rPr>
              <a:t>System-call</a:t>
            </a: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 interface maintains a table indexed according to these numbers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system call interface invokes  the intended system call in OS kernel and returns status of the system call and any return values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➔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caller need know nothing about how the system call is implemented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Just needs to obey API and understand what OS will do as a result call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◆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Most details of  OS interface hidden from programmer by API 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Managed by run-time support library (set of functions built into libraries included with compiler)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26" name="Google Shape;226;g32b02a4f0a3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775" y="960075"/>
            <a:ext cx="4114199" cy="32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2b02a4f0a3_0_79"/>
          <p:cNvSpPr txBox="1"/>
          <p:nvPr/>
        </p:nvSpPr>
        <p:spPr>
          <a:xfrm>
            <a:off x="5566525" y="4351050"/>
            <a:ext cx="28107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Figure:</a:t>
            </a:r>
            <a:r>
              <a:rPr b="0" i="0" lang="en" sz="1000" u="none" cap="none" strike="noStrike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API – System Call – OS Relationship</a:t>
            </a:r>
            <a:endParaRPr b="0" i="0" sz="1000" u="none" cap="none" strike="noStrike">
              <a:solidFill>
                <a:schemeClr val="dk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b02a4f0a3_0_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3" name="Google Shape;233;g32b02a4f0a3_0_139"/>
          <p:cNvGraphicFramePr/>
          <p:nvPr/>
        </p:nvGraphicFramePr>
        <p:xfrm>
          <a:off x="1666650" y="12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{4998A958-92FE-4035-ADB3-A03AF4D20B8E}</a:tableStyleId>
              </a:tblPr>
              <a:tblGrid>
                <a:gridCol w="1936900"/>
                <a:gridCol w="2166300"/>
                <a:gridCol w="1707500"/>
              </a:tblGrid>
              <a:tr h="39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1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Process Control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CreateProcess()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ExitProcess()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WaitForSingleObject()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fork()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exit()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wait()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109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File Manipulation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CloseHandle()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open()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close()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3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Device Manipulation 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SetConsoleMode()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ReadConsole()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WriteConsole()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ioctl()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write()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b02a4f0a3_0_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Types of System Call</a:t>
            </a:r>
            <a:endParaRPr/>
          </a:p>
        </p:txBody>
      </p:sp>
      <p:graphicFrame>
        <p:nvGraphicFramePr>
          <p:cNvPr id="239" name="Google Shape;239;g32b02a4f0a3_0_144"/>
          <p:cNvGraphicFramePr/>
          <p:nvPr/>
        </p:nvGraphicFramePr>
        <p:xfrm>
          <a:off x="1582525" y="12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{4998A958-92FE-4035-ADB3-A03AF4D20B8E}</a:tableStyleId>
              </a:tblPr>
              <a:tblGrid>
                <a:gridCol w="1593025"/>
                <a:gridCol w="3530550"/>
                <a:gridCol w="1290275"/>
              </a:tblGrid>
              <a:tr h="39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Type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Windows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Linux OS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1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Information Maintenance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GetCurrentProcessID()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SetTimer()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getpid()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alarm()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sleep()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109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Communication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CreatePipe()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CreateFileMapping()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MapViewOfFile()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pipe()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shm_open()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mmap()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93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Protection</a:t>
                      </a:r>
                      <a:endParaRPr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SetFileSecurity() InitlializeSecurityDescriptor()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SetSecurityDescriptorGroup() 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chmod()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umask()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chown()</a:t>
                      </a:r>
                      <a:endParaRPr b="1" sz="14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/>
          <p:nvPr>
            <p:ph type="ctrTitle"/>
          </p:nvPr>
        </p:nvSpPr>
        <p:spPr>
          <a:xfrm>
            <a:off x="2196600" y="1916700"/>
            <a:ext cx="47508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Operations on Process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0e5c5688a_0_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Operations on Processes</a:t>
            </a:r>
            <a:endParaRPr/>
          </a:p>
        </p:txBody>
      </p:sp>
      <p:sp>
        <p:nvSpPr>
          <p:cNvPr id="251" name="Google Shape;251;g330e5c5688a_0_49"/>
          <p:cNvSpPr txBox="1"/>
          <p:nvPr>
            <p:ph idx="1" type="body"/>
          </p:nvPr>
        </p:nvSpPr>
        <p:spPr>
          <a:xfrm>
            <a:off x="311700" y="1147225"/>
            <a:ext cx="85206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System must provide mechanisms for: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creation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 Process termination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11700" y="1147225"/>
            <a:ext cx="70305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 create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processes, which, in turn create other processes, forming a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tree</a:t>
            </a: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of processes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Generally, process identified and managed via a </a:t>
            </a:r>
            <a:r>
              <a:rPr b="1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identifier (pid)</a:t>
            </a:r>
            <a:endParaRPr b="1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58" name="Google Shape;258;p18"/>
          <p:cNvGrpSpPr/>
          <p:nvPr/>
        </p:nvGrpSpPr>
        <p:grpSpPr>
          <a:xfrm>
            <a:off x="5356263" y="2038000"/>
            <a:ext cx="3435525" cy="1755350"/>
            <a:chOff x="3029525" y="2257325"/>
            <a:chExt cx="3435525" cy="1755350"/>
          </a:xfrm>
        </p:grpSpPr>
        <p:sp>
          <p:nvSpPr>
            <p:cNvPr id="259" name="Google Shape;259;p18"/>
            <p:cNvSpPr/>
            <p:nvPr/>
          </p:nvSpPr>
          <p:spPr>
            <a:xfrm>
              <a:off x="4701263" y="225732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3529175" y="2935175"/>
              <a:ext cx="540250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P2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4651250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P3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5824775" y="293517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P4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63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18"/>
            <p:cNvCxnSpPr>
              <a:stCxn id="259" idx="2"/>
              <a:endCxn id="261" idx="0"/>
            </p:cNvCxnSpPr>
            <p:nvPr/>
          </p:nvCxnSpPr>
          <p:spPr>
            <a:xfrm>
              <a:off x="4971388" y="2575575"/>
              <a:ext cx="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18"/>
            <p:cNvCxnSpPr>
              <a:stCxn id="259" idx="2"/>
              <a:endCxn id="260" idx="0"/>
            </p:cNvCxnSpPr>
            <p:nvPr/>
          </p:nvCxnSpPr>
          <p:spPr>
            <a:xfrm flipH="1">
              <a:off x="3799288" y="2575575"/>
              <a:ext cx="117210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8"/>
            <p:cNvCxnSpPr>
              <a:stCxn id="259" idx="2"/>
              <a:endCxn id="262" idx="0"/>
            </p:cNvCxnSpPr>
            <p:nvPr/>
          </p:nvCxnSpPr>
          <p:spPr>
            <a:xfrm>
              <a:off x="4971388" y="2575575"/>
              <a:ext cx="1173600" cy="3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6" name="Google Shape;266;p18"/>
            <p:cNvSpPr/>
            <p:nvPr/>
          </p:nvSpPr>
          <p:spPr>
            <a:xfrm>
              <a:off x="30295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P5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51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3875550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P6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38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18"/>
            <p:cNvCxnSpPr>
              <a:stCxn id="260" idx="2"/>
              <a:endCxn id="267" idx="0"/>
            </p:cNvCxnSpPr>
            <p:nvPr/>
          </p:nvCxnSpPr>
          <p:spPr>
            <a:xfrm>
              <a:off x="3799300" y="3253425"/>
              <a:ext cx="3963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18"/>
            <p:cNvCxnSpPr>
              <a:stCxn id="260" idx="2"/>
              <a:endCxn id="266" idx="0"/>
            </p:cNvCxnSpPr>
            <p:nvPr/>
          </p:nvCxnSpPr>
          <p:spPr>
            <a:xfrm flipH="1">
              <a:off x="3349600" y="3253425"/>
              <a:ext cx="4497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0" name="Google Shape;270;p18"/>
            <p:cNvSpPr/>
            <p:nvPr/>
          </p:nvSpPr>
          <p:spPr>
            <a:xfrm>
              <a:off x="5504725" y="3694425"/>
              <a:ext cx="640275" cy="318250"/>
            </a:xfrm>
            <a:prstGeom prst="flowChartProcess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P7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pid = 55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18"/>
            <p:cNvCxnSpPr>
              <a:stCxn id="262" idx="2"/>
              <a:endCxn id="270" idx="0"/>
            </p:cNvCxnSpPr>
            <p:nvPr/>
          </p:nvCxnSpPr>
          <p:spPr>
            <a:xfrm flipH="1">
              <a:off x="5824813" y="3253425"/>
              <a:ext cx="320100" cy="44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2" name="Google Shape;272;p18"/>
          <p:cNvGrpSpPr/>
          <p:nvPr/>
        </p:nvGrpSpPr>
        <p:grpSpPr>
          <a:xfrm>
            <a:off x="3835199" y="2828075"/>
            <a:ext cx="2020704" cy="1620006"/>
            <a:chOff x="1776171" y="3133044"/>
            <a:chExt cx="3774900" cy="1057238"/>
          </a:xfrm>
        </p:grpSpPr>
        <p:sp>
          <p:nvSpPr>
            <p:cNvPr id="273" name="Google Shape;273;p18"/>
            <p:cNvSpPr txBox="1"/>
            <p:nvPr/>
          </p:nvSpPr>
          <p:spPr>
            <a:xfrm>
              <a:off x="1776171" y="3133044"/>
              <a:ext cx="1452600" cy="3183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Parent process</a:t>
              </a:r>
              <a:endParaRPr b="0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1776173" y="3871982"/>
              <a:ext cx="1452600" cy="3183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Child process</a:t>
              </a:r>
              <a:endParaRPr b="0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75" name="Google Shape;275;p18"/>
            <p:cNvCxnSpPr>
              <a:stCxn id="273" idx="3"/>
              <a:endCxn id="260" idx="1"/>
            </p:cNvCxnSpPr>
            <p:nvPr/>
          </p:nvCxnSpPr>
          <p:spPr>
            <a:xfrm flipH="1" rot="10800000">
              <a:off x="3228771" y="3163794"/>
              <a:ext cx="2322300" cy="12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6" name="Google Shape;276;p18"/>
            <p:cNvCxnSpPr>
              <a:stCxn id="274" idx="3"/>
              <a:endCxn id="266" idx="1"/>
            </p:cNvCxnSpPr>
            <p:nvPr/>
          </p:nvCxnSpPr>
          <p:spPr>
            <a:xfrm flipH="1" rot="10800000">
              <a:off x="3228773" y="3659132"/>
              <a:ext cx="1389000" cy="37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7" name="Google Shape;277;p18"/>
          <p:cNvSpPr txBox="1"/>
          <p:nvPr/>
        </p:nvSpPr>
        <p:spPr>
          <a:xfrm>
            <a:off x="311700" y="1839125"/>
            <a:ext cx="3351600" cy="21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Resource sharing options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share all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Children share subset of parent’s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 share no resources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➔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Execution options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and children execute concurrently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pectral"/>
              <a:buChar char="◆"/>
            </a:pPr>
            <a:r>
              <a:rPr b="0" i="0" lang="en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Parent waits until children terminate</a:t>
            </a:r>
            <a:endParaRPr b="0" i="0" sz="11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</a:t>
            </a:r>
            <a:endParaRPr/>
          </a:p>
        </p:txBody>
      </p:sp>
      <p:sp>
        <p:nvSpPr>
          <p:cNvPr id="283" name="Google Shape;283;p19"/>
          <p:cNvSpPr txBox="1"/>
          <p:nvPr>
            <p:ph idx="1" type="body"/>
          </p:nvPr>
        </p:nvSpPr>
        <p:spPr>
          <a:xfrm>
            <a:off x="311700" y="1349850"/>
            <a:ext cx="70305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When a process creates new process -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continues to execute concurrently with its children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Or, 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The parent waits until some or all of its children have terminated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311700" y="3056475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address-space possibilities for the new process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is a duplicate of the parent process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The child process has a new program loaded into it.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creation in UNIX </a:t>
            </a:r>
            <a:endParaRPr/>
          </a:p>
        </p:txBody>
      </p:sp>
      <p:sp>
        <p:nvSpPr>
          <p:cNvPr id="290" name="Google Shape;290;p20"/>
          <p:cNvSpPr txBox="1"/>
          <p:nvPr>
            <p:ph idx="1" type="body"/>
          </p:nvPr>
        </p:nvSpPr>
        <p:spPr>
          <a:xfrm>
            <a:off x="311700" y="1263700"/>
            <a:ext cx="70305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System Call:</a:t>
            </a:r>
            <a:r>
              <a:rPr lang="en" sz="1400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offers the services of the operating system to the user programs.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fork()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create a new process, which becomes the child process of the caller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exec()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runs an executable file , replacing the previous executable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wait()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: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 suspends execution of the current process until one of its children terminates.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91" name="Google Shape;291;p20"/>
          <p:cNvGrpSpPr/>
          <p:nvPr/>
        </p:nvGrpSpPr>
        <p:grpSpPr>
          <a:xfrm>
            <a:off x="1079275" y="2966500"/>
            <a:ext cx="6833899" cy="1845275"/>
            <a:chOff x="1303800" y="3082975"/>
            <a:chExt cx="6833899" cy="1845275"/>
          </a:xfrm>
        </p:grpSpPr>
        <p:pic>
          <p:nvPicPr>
            <p:cNvPr id="292" name="Google Shape;29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03800" y="3082975"/>
              <a:ext cx="6833899" cy="133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0"/>
            <p:cNvSpPr txBox="1"/>
            <p:nvPr/>
          </p:nvSpPr>
          <p:spPr>
            <a:xfrm>
              <a:off x="3420300" y="4430850"/>
              <a:ext cx="27975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Fig: Process creation using fork() system call</a:t>
              </a:r>
              <a:endParaRPr b="1" i="0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901" y="69847"/>
            <a:ext cx="4477459" cy="4517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/>
        </p:nvSpPr>
        <p:spPr>
          <a:xfrm>
            <a:off x="395204" y="418838"/>
            <a:ext cx="2830995" cy="1765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395204" y="2373404"/>
            <a:ext cx="2830995" cy="23347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/>
          <p:nvPr>
            <p:ph idx="1" type="body"/>
          </p:nvPr>
        </p:nvSpPr>
        <p:spPr>
          <a:xfrm>
            <a:off x="391599" y="319703"/>
            <a:ext cx="2830995" cy="20950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if(a==0) 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475104" y="2559941"/>
            <a:ext cx="2830995" cy="23347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 = 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if(a==0) fork();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printf(“A”);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5ee8f0eb0_2_5"/>
          <p:cNvSpPr txBox="1"/>
          <p:nvPr>
            <p:ph idx="1" type="body"/>
          </p:nvPr>
        </p:nvSpPr>
        <p:spPr>
          <a:xfrm>
            <a:off x="115410" y="390723"/>
            <a:ext cx="5530800" cy="383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5ee8f0eb0_2_62"/>
          <p:cNvSpPr txBox="1"/>
          <p:nvPr>
            <p:ph idx="1" type="body"/>
          </p:nvPr>
        </p:nvSpPr>
        <p:spPr>
          <a:xfrm>
            <a:off x="115400" y="390725"/>
            <a:ext cx="5530800" cy="458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main: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x =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a = fork()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if (a ==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print(“Child”)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- 1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else if (a &gt; 0)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print(“Parent”)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	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wait(NULL)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x = x + 1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print("value of x is:", x)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Process Termination</a:t>
            </a:r>
            <a:endParaRPr/>
          </a:p>
        </p:txBody>
      </p:sp>
      <p:sp>
        <p:nvSpPr>
          <p:cNvPr id="326" name="Google Shape;326;p25"/>
          <p:cNvSpPr txBox="1"/>
          <p:nvPr>
            <p:ph idx="1" type="body"/>
          </p:nvPr>
        </p:nvSpPr>
        <p:spPr>
          <a:xfrm>
            <a:off x="311700" y="1057700"/>
            <a:ext cx="84354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 executes last statement and then asks the operating system to delete it using the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exit()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Returns  status data from child to parent (via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Process’ resources are deallocated by operating system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Parent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may terminate the execution of children processes  using the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appropriate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system call (Ex.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kill()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in UNIX/Linux/macOS,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TerminateProcess()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in Windows).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.  Some reasons for doing so: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Child has exceeded allocated resources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Task assigned to child is no longer required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is exiting, and the operating systems does not allow  a child to continue if its parent terminates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Some operating systems do not allow child to exists if its parent has terminated.  If a process terminates, then all its children must also be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Cascading termination: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 All children, grandchildren, etc.,  are  terminated.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◆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termination is initiated by the operating system.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The parent process may wait for termination of a child process by using the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system call. The call returns status information and the id of the terminated process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pid = wait(&amp;status); 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457200" lvl="0" marL="18288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45161"/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no parent waiting (did not invoke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) process is a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zombie</a:t>
            </a:r>
            <a:endParaRPr b="1" sz="1600">
              <a:latin typeface="Spectral"/>
              <a:ea typeface="Spectral"/>
              <a:cs typeface="Spectral"/>
              <a:sym typeface="Spectral"/>
            </a:endParaRPr>
          </a:p>
          <a:p>
            <a:pPr indent="-30734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Spectral"/>
              <a:buChar char="➔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If parent terminated without invoking </a:t>
            </a: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wait()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, process is an </a:t>
            </a:r>
            <a:r>
              <a:rPr b="1" lang="en" sz="1600">
                <a:latin typeface="Spectral"/>
                <a:ea typeface="Spectral"/>
                <a:cs typeface="Spectral"/>
                <a:sym typeface="Spectral"/>
              </a:rPr>
              <a:t>orphan</a:t>
            </a:r>
            <a:endParaRPr b="1"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62418"/>
              <a:buNone/>
            </a:pPr>
            <a:r>
              <a:t/>
            </a:r>
            <a:endParaRPr b="1" sz="143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65383"/>
              <a:buNone/>
            </a:pPr>
            <a:r>
              <a:t/>
            </a:r>
            <a:endParaRPr sz="143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ctrTitle"/>
          </p:nvPr>
        </p:nvSpPr>
        <p:spPr>
          <a:xfrm>
            <a:off x="2196600" y="1757500"/>
            <a:ext cx="5034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555"/>
              <a:buNone/>
            </a:pPr>
            <a:r>
              <a:rPr lang="en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38761D"/>
                </a:solidFill>
              </a:rPr>
              <a:t>Interprocess Communication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8281425" y="4595850"/>
            <a:ext cx="55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FBA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/>
          <p:nvPr>
            <p:ph type="title"/>
          </p:nvPr>
        </p:nvSpPr>
        <p:spPr>
          <a:xfrm>
            <a:off x="541525" y="598625"/>
            <a:ext cx="7030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Processes in the system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541525" y="1335750"/>
            <a:ext cx="7030500" cy="1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Processes running concurrently may be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Independent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(cannot affect or be affected by other process)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Or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Cooperating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(can affect or be affected by other process)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41525" y="2889300"/>
            <a:ext cx="64977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Process cooperation is needed for -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Information sharing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Computational speedup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Modularity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➔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Convenience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Inter Process Communication</a:t>
            </a:r>
            <a:endParaRPr/>
          </a:p>
        </p:txBody>
      </p:sp>
      <p:sp>
        <p:nvSpPr>
          <p:cNvPr id="345" name="Google Shape;345;p29"/>
          <p:cNvSpPr txBox="1"/>
          <p:nvPr>
            <p:ph idx="1" type="body"/>
          </p:nvPr>
        </p:nvSpPr>
        <p:spPr>
          <a:xfrm>
            <a:off x="311700" y="1247850"/>
            <a:ext cx="7030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789"/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IPC is a </a:t>
            </a:r>
            <a:r>
              <a:rPr b="1" i="1" lang="en" sz="1200">
                <a:latin typeface="Spectral"/>
                <a:ea typeface="Spectral"/>
                <a:cs typeface="Spectral"/>
                <a:sym typeface="Spectral"/>
              </a:rPr>
              <a:t>mechanism 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to exchange data and information among processes. 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311700" y="1685250"/>
            <a:ext cx="70305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Two fundamental model of IPC - 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Shared Memory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1150" lvl="0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ectral"/>
              <a:buAutoNum type="arabicPeriod"/>
            </a:pPr>
            <a:r>
              <a:rPr b="0" i="0" lang="en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 Passing</a:t>
            </a:r>
            <a:endParaRPr b="0" i="0" sz="13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47" name="Google Shape;3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9900" y="2782650"/>
            <a:ext cx="3612915" cy="20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Shared Memory System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3332"/>
              <a:buNone/>
            </a:pPr>
            <a:r>
              <a:rPr lang="en" sz="2000"/>
              <a:t>(Producer-Consumer Problem)</a:t>
            </a:r>
            <a:endParaRPr sz="2000"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311700" y="1242575"/>
            <a:ext cx="70305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Producer: produces products for consumer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Spectral"/>
                <a:ea typeface="Spectral"/>
                <a:cs typeface="Spectral"/>
                <a:sym typeface="Spectral"/>
              </a:rPr>
              <a:t>Consumer: consumes products provided by producer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54" name="Google Shape;354;p30"/>
          <p:cNvGrpSpPr/>
          <p:nvPr/>
        </p:nvGrpSpPr>
        <p:grpSpPr>
          <a:xfrm>
            <a:off x="1596250" y="2441400"/>
            <a:ext cx="5552175" cy="1048675"/>
            <a:chOff x="1810875" y="3233275"/>
            <a:chExt cx="5552175" cy="1048675"/>
          </a:xfrm>
        </p:grpSpPr>
        <p:sp>
          <p:nvSpPr>
            <p:cNvPr id="355" name="Google Shape;355;p30"/>
            <p:cNvSpPr/>
            <p:nvPr/>
          </p:nvSpPr>
          <p:spPr>
            <a:xfrm>
              <a:off x="3865237" y="3271100"/>
              <a:ext cx="1413525" cy="762275"/>
            </a:xfrm>
            <a:prstGeom prst="flowChartMagneticDisk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Share Space 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Buffer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1938975" y="3322925"/>
              <a:ext cx="584700" cy="532800"/>
            </a:xfrm>
            <a:prstGeom prst="smileyFace">
              <a:avLst>
                <a:gd fmla="val -60" name="adj"/>
              </a:avLst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6650250" y="3293350"/>
              <a:ext cx="584700" cy="532800"/>
            </a:xfrm>
            <a:prstGeom prst="smileyFace">
              <a:avLst>
                <a:gd fmla="val 4653" name="adj"/>
              </a:avLst>
            </a:prstGeom>
            <a:solidFill>
              <a:srgbClr val="CC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" name="Google Shape;358;p30"/>
            <p:cNvCxnSpPr>
              <a:stCxn id="356" idx="6"/>
            </p:cNvCxnSpPr>
            <p:nvPr/>
          </p:nvCxnSpPr>
          <p:spPr>
            <a:xfrm>
              <a:off x="2523675" y="3589325"/>
              <a:ext cx="1509600" cy="1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30"/>
            <p:cNvCxnSpPr>
              <a:endCxn id="357" idx="2"/>
            </p:cNvCxnSpPr>
            <p:nvPr/>
          </p:nvCxnSpPr>
          <p:spPr>
            <a:xfrm flipH="1" rot="10800000">
              <a:off x="5098950" y="3559750"/>
              <a:ext cx="1551300" cy="2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0" name="Google Shape;360;p30"/>
            <p:cNvSpPr txBox="1"/>
            <p:nvPr/>
          </p:nvSpPr>
          <p:spPr>
            <a:xfrm>
              <a:off x="2774000" y="327110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Produce</a:t>
              </a:r>
              <a:endParaRPr b="0" i="0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1" name="Google Shape;361;p30"/>
            <p:cNvSpPr txBox="1"/>
            <p:nvPr/>
          </p:nvSpPr>
          <p:spPr>
            <a:xfrm>
              <a:off x="5544038" y="3233275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Consume</a:t>
              </a:r>
              <a:endParaRPr b="0" i="0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2" name="Google Shape;362;p30"/>
            <p:cNvSpPr txBox="1"/>
            <p:nvPr/>
          </p:nvSpPr>
          <p:spPr>
            <a:xfrm>
              <a:off x="1810875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Producer</a:t>
              </a:r>
              <a:endParaRPr b="0" i="0" sz="11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  <p:sp>
          <p:nvSpPr>
            <p:cNvPr id="363" name="Google Shape;363;p30"/>
            <p:cNvSpPr txBox="1"/>
            <p:nvPr/>
          </p:nvSpPr>
          <p:spPr>
            <a:xfrm>
              <a:off x="6522150" y="3948950"/>
              <a:ext cx="8409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Consumer</a:t>
              </a:r>
              <a:endParaRPr b="0" i="0" sz="11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(Producer)</a:t>
            </a:r>
            <a:endParaRPr sz="2600"/>
          </a:p>
        </p:txBody>
      </p:sp>
      <p:pic>
        <p:nvPicPr>
          <p:cNvPr id="369" name="Google Shape;3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2600" y="1361700"/>
            <a:ext cx="3176482" cy="1697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31"/>
          <p:cNvSpPr txBox="1"/>
          <p:nvPr/>
        </p:nvSpPr>
        <p:spPr>
          <a:xfrm>
            <a:off x="5496900" y="1514100"/>
            <a:ext cx="28374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71" name="Google Shape;371;p31"/>
          <p:cNvGrpSpPr/>
          <p:nvPr/>
        </p:nvGrpSpPr>
        <p:grpSpPr>
          <a:xfrm>
            <a:off x="1303800" y="3221050"/>
            <a:ext cx="3454800" cy="1284150"/>
            <a:chOff x="1303800" y="1849450"/>
            <a:chExt cx="3454800" cy="1284150"/>
          </a:xfrm>
        </p:grpSpPr>
        <p:sp>
          <p:nvSpPr>
            <p:cNvPr id="372" name="Google Shape;372;p31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79" name="Google Shape;379;p31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full,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6 , out = 0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0" name="Google Shape;380;p31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[1]       [2]        [3] 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grpSp>
        <p:nvGrpSpPr>
          <p:cNvPr id="381" name="Google Shape;381;p31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382" name="Google Shape;382;p31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full,  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4, out = 0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390" name="Google Shape;390;p31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[0]       [1]       [2]       [3]      [4]       [5]      [6]</a:t>
              </a:r>
              <a:endParaRPr b="0" i="0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600"/>
              <a:t>Producer-Consumer Problem (Consumer)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2600"/>
          </a:p>
        </p:txBody>
      </p:sp>
      <p:pic>
        <p:nvPicPr>
          <p:cNvPr id="396" name="Google Shape;39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7375" y="1477248"/>
            <a:ext cx="3257200" cy="17046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p32"/>
          <p:cNvSpPr txBox="1"/>
          <p:nvPr/>
        </p:nvSpPr>
        <p:spPr>
          <a:xfrm>
            <a:off x="5591950" y="1597875"/>
            <a:ext cx="28374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next free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</a:t>
            </a: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: first full position in buffer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Both initialized with 0. 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in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out = 0</a:t>
            </a:r>
            <a:endParaRPr b="0" i="0" sz="12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98" name="Google Shape;398;p32"/>
          <p:cNvGrpSpPr/>
          <p:nvPr/>
        </p:nvGrpSpPr>
        <p:grpSpPr>
          <a:xfrm>
            <a:off x="1303800" y="3295825"/>
            <a:ext cx="3454800" cy="1284150"/>
            <a:chOff x="1303800" y="1849450"/>
            <a:chExt cx="3454800" cy="1284150"/>
          </a:xfrm>
        </p:grpSpPr>
        <p:sp>
          <p:nvSpPr>
            <p:cNvPr id="399" name="Google Shape;399;p32"/>
            <p:cNvSpPr/>
            <p:nvPr/>
          </p:nvSpPr>
          <p:spPr>
            <a:xfrm>
              <a:off x="1388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1852413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2333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28142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3278313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37592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4223325" y="2807800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 txBox="1"/>
            <p:nvPr/>
          </p:nvSpPr>
          <p:spPr>
            <a:xfrm>
              <a:off x="1303800" y="1849450"/>
              <a:ext cx="34548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Here, BUFFER_SIZE = 7</a:t>
              </a:r>
              <a:endParaRPr b="0" i="0" sz="11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empty,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 = 0 , out = 0 </a:t>
              </a:r>
              <a:endParaRPr b="0" i="0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07" name="Google Shape;407;p32"/>
            <p:cNvSpPr txBox="1"/>
            <p:nvPr/>
          </p:nvSpPr>
          <p:spPr>
            <a:xfrm>
              <a:off x="1440950" y="2926300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08" name="Google Shape;408;p32"/>
          <p:cNvGrpSpPr/>
          <p:nvPr/>
        </p:nvGrpSpPr>
        <p:grpSpPr>
          <a:xfrm>
            <a:off x="5190000" y="3522750"/>
            <a:ext cx="3567300" cy="1057225"/>
            <a:chOff x="1380000" y="3522750"/>
            <a:chExt cx="3567300" cy="1057225"/>
          </a:xfrm>
        </p:grpSpPr>
        <p:sp>
          <p:nvSpPr>
            <p:cNvPr id="409" name="Google Shape;409;p32"/>
            <p:cNvSpPr txBox="1"/>
            <p:nvPr/>
          </p:nvSpPr>
          <p:spPr>
            <a:xfrm>
              <a:off x="1380000" y="3522750"/>
              <a:ext cx="35673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When buffer is not empty,  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		In = 5, out = 0</a:t>
              </a:r>
              <a:endParaRPr b="0" i="0" sz="13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1440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19050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23859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2866850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3330938" y="4254175"/>
              <a:ext cx="480900" cy="207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38118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4275950" y="4254175"/>
              <a:ext cx="480900" cy="20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 txBox="1"/>
            <p:nvPr/>
          </p:nvSpPr>
          <p:spPr>
            <a:xfrm>
              <a:off x="1493575" y="4372675"/>
              <a:ext cx="32415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[0]     [1]      [2]     [3]      [4]      [5]     [6]</a:t>
              </a:r>
              <a:endParaRPr b="0" i="0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 txBox="1"/>
          <p:nvPr>
            <p:ph type="title"/>
          </p:nvPr>
        </p:nvSpPr>
        <p:spPr>
          <a:xfrm>
            <a:off x="437925" y="517175"/>
            <a:ext cx="7030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Message Passing System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437925" y="1309525"/>
            <a:ext cx="74808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If processes P and Q want to communicate, they must </a:t>
            </a:r>
            <a:r>
              <a:rPr b="0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send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to and </a:t>
            </a:r>
            <a:r>
              <a:rPr b="0" i="1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receive </a:t>
            </a: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messages from each other.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 communication link must exist between P and Q.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424" name="Google Shape;424;p33"/>
          <p:cNvGrpSpPr/>
          <p:nvPr/>
        </p:nvGrpSpPr>
        <p:grpSpPr>
          <a:xfrm>
            <a:off x="2079600" y="2605875"/>
            <a:ext cx="4970325" cy="1360425"/>
            <a:chOff x="2079600" y="3063075"/>
            <a:chExt cx="4970325" cy="1360425"/>
          </a:xfrm>
        </p:grpSpPr>
        <p:sp>
          <p:nvSpPr>
            <p:cNvPr id="425" name="Google Shape;425;p33"/>
            <p:cNvSpPr/>
            <p:nvPr/>
          </p:nvSpPr>
          <p:spPr>
            <a:xfrm>
              <a:off x="34339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40111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45883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5165525" y="3722550"/>
              <a:ext cx="577200" cy="318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2079600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6420825" y="3582000"/>
              <a:ext cx="629100" cy="599400"/>
            </a:xfrm>
            <a:prstGeom prst="ellipse">
              <a:avLst/>
            </a:prstGeom>
            <a:solidFill>
              <a:srgbClr val="D9D9D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33"/>
            <p:cNvCxnSpPr>
              <a:stCxn id="429" idx="0"/>
              <a:endCxn id="426" idx="0"/>
            </p:cNvCxnSpPr>
            <p:nvPr/>
          </p:nvCxnSpPr>
          <p:spPr>
            <a:xfrm flipH="1" rot="-5400000">
              <a:off x="3276600" y="2699550"/>
              <a:ext cx="140700" cy="1905600"/>
            </a:xfrm>
            <a:prstGeom prst="bentConnector3">
              <a:avLst>
                <a:gd fmla="val 21053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33"/>
            <p:cNvCxnSpPr>
              <a:endCxn id="430" idx="4"/>
            </p:cNvCxnSpPr>
            <p:nvPr/>
          </p:nvCxnSpPr>
          <p:spPr>
            <a:xfrm>
              <a:off x="4299675" y="4055700"/>
              <a:ext cx="2435700" cy="125700"/>
            </a:xfrm>
            <a:prstGeom prst="bentConnector4">
              <a:avLst>
                <a:gd fmla="val 310" name="adj1"/>
                <a:gd fmla="val 28355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3" name="Google Shape;433;p33"/>
            <p:cNvSpPr txBox="1"/>
            <p:nvPr/>
          </p:nvSpPr>
          <p:spPr>
            <a:xfrm>
              <a:off x="2639000" y="3063075"/>
              <a:ext cx="12537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send(message)</a:t>
              </a:r>
              <a:endParaRPr b="1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3"/>
            <p:cNvSpPr txBox="1"/>
            <p:nvPr/>
          </p:nvSpPr>
          <p:spPr>
            <a:xfrm>
              <a:off x="4803075" y="4105200"/>
              <a:ext cx="13734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receive(message)</a:t>
              </a:r>
              <a:endParaRPr b="1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p33"/>
          <p:cNvSpPr txBox="1"/>
          <p:nvPr/>
        </p:nvSpPr>
        <p:spPr>
          <a:xfrm>
            <a:off x="437925" y="4139175"/>
            <a:ext cx="57504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Useful for exchanging small amount of data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More suited for distributed systems than shared memory </a:t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